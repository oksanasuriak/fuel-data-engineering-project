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6" r:id="rId4"/>
    <p:sldId id="258" r:id="rId5"/>
    <p:sldId id="259" r:id="rId6"/>
    <p:sldId id="260" r:id="rId7"/>
    <p:sldId id="261" r:id="rId8"/>
    <p:sldId id="267" r:id="rId9"/>
    <p:sldId id="268" r:id="rId10"/>
    <p:sldId id="269" r:id="rId11"/>
    <p:sldId id="262" r:id="rId12"/>
    <p:sldId id="263" r:id="rId13"/>
    <p:sldId id="264" r:id="rId14"/>
    <p:sldId id="265" r:id="rId15"/>
    <p:sldId id="270" r:id="rId16"/>
    <p:sldId id="271" r:id="rId17"/>
    <p:sldId id="272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88" autoAdjust="0"/>
    <p:restoredTop sz="94662" autoAdjust="0"/>
  </p:normalViewPr>
  <p:slideViewPr>
    <p:cSldViewPr snapToGrid="0" snapToObjects="1">
      <p:cViewPr>
        <p:scale>
          <a:sx n="60" d="100"/>
          <a:sy n="60" d="100"/>
        </p:scale>
        <p:origin x="-1656" y="-29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3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index.minfin.com.ua/ua/markets/fuel/detail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bank.gov.ua/NBUStatService/v1/statdirectory/exchange?json" TargetMode="External"/><Relationship Id="rId2" Type="http://schemas.openxmlformats.org/officeDocument/2006/relationships/hyperlink" Target="https://index.minfin.com.ua/ua/markets/fuel/detail/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490812"/>
            <a:ext cx="9002110" cy="1470025"/>
          </a:xfrm>
        </p:spPr>
        <p:txBody>
          <a:bodyPr>
            <a:normAutofit/>
          </a:bodyPr>
          <a:lstStyle/>
          <a:p>
            <a:r>
              <a:rPr lang="en-US" u="sng" dirty="0" smtClean="0"/>
              <a:t>Fuel Prices </a:t>
            </a:r>
            <a:r>
              <a:rPr u="sng" dirty="0" smtClean="0"/>
              <a:t>Data Engineering</a:t>
            </a:r>
            <a:r>
              <a:rPr lang="en-US" u="sng" dirty="0" smtClean="0"/>
              <a:t> Project</a:t>
            </a:r>
            <a:endParaRPr u="sng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Azure </a:t>
            </a:r>
            <a:r>
              <a:rPr dirty="0" smtClean="0"/>
              <a:t>Data Factory | </a:t>
            </a:r>
            <a:r>
              <a:rPr dirty="0"/>
              <a:t>Azure </a:t>
            </a:r>
            <a:r>
              <a:rPr dirty="0" err="1"/>
              <a:t>Databricks</a:t>
            </a:r>
            <a:r>
              <a:rPr dirty="0"/>
              <a:t> | Azure Data Lake | Azure SQL Database | Power BI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819807" y="2128345"/>
            <a:ext cx="7638393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200" b="1" dirty="0" err="1"/>
              <a:t>Аналітична</a:t>
            </a:r>
            <a:r>
              <a:rPr lang="ru-RU" sz="3200" b="1" dirty="0"/>
              <a:t> платформа для </a:t>
            </a:r>
            <a:r>
              <a:rPr lang="ru-RU" sz="3200" b="1" dirty="0" err="1"/>
              <a:t>моніторингу</a:t>
            </a:r>
            <a:r>
              <a:rPr lang="ru-RU" sz="3200" b="1" dirty="0"/>
              <a:t> </a:t>
            </a:r>
            <a:r>
              <a:rPr lang="ru-RU" sz="3200" b="1" dirty="0" err="1"/>
              <a:t>цін</a:t>
            </a:r>
            <a:r>
              <a:rPr lang="ru-RU" sz="3200" b="1" dirty="0"/>
              <a:t> на </a:t>
            </a:r>
            <a:r>
              <a:rPr lang="ru-RU" sz="3200" b="1" dirty="0" err="1"/>
              <a:t>паливо</a:t>
            </a:r>
            <a:r>
              <a:rPr lang="ru-RU" sz="3200" b="1" dirty="0"/>
              <a:t> </a:t>
            </a:r>
            <a:r>
              <a:rPr lang="ru-RU" sz="3200" b="1" dirty="0" err="1"/>
              <a:t>України</a:t>
            </a:r>
            <a:r>
              <a:rPr lang="ru-RU" sz="3200" b="1" dirty="0"/>
              <a:t> та </a:t>
            </a:r>
            <a:r>
              <a:rPr lang="ru-RU" sz="3200" b="1" dirty="0" err="1"/>
              <a:t>валютних</a:t>
            </a:r>
            <a:r>
              <a:rPr lang="ru-RU" sz="3200" b="1" dirty="0"/>
              <a:t> </a:t>
            </a:r>
            <a:r>
              <a:rPr lang="ru-RU" sz="3200" b="1" dirty="0" err="1"/>
              <a:t>курсів</a:t>
            </a:r>
            <a:endParaRPr lang="ru-RU" sz="32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u="sng" dirty="0" err="1"/>
              <a:t>Опис</a:t>
            </a:r>
            <a:r>
              <a:rPr u="sng" dirty="0"/>
              <a:t> </a:t>
            </a:r>
            <a:r>
              <a:rPr u="sng" dirty="0" err="1"/>
              <a:t>проєкту</a:t>
            </a:r>
            <a:endParaRPr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952" y="1600200"/>
            <a:ext cx="8734096" cy="4311869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ru-RU" dirty="0" smtClean="0"/>
              <a:t>Даний</a:t>
            </a:r>
            <a:r>
              <a:rPr lang="ru-RU" dirty="0"/>
              <a:t> </a:t>
            </a:r>
            <a:r>
              <a:rPr lang="en-US" b="1" dirty="0"/>
              <a:t>ETL pipeline</a:t>
            </a:r>
            <a:r>
              <a:rPr lang="en-US" dirty="0"/>
              <a:t> </a:t>
            </a:r>
            <a:r>
              <a:rPr lang="ru-RU" dirty="0" smtClean="0"/>
              <a:t>створено на </a:t>
            </a:r>
            <a:r>
              <a:rPr lang="ru-RU" dirty="0" err="1"/>
              <a:t>основі</a:t>
            </a:r>
            <a:r>
              <a:rPr lang="ru-RU" dirty="0"/>
              <a:t> </a:t>
            </a:r>
            <a:r>
              <a:rPr lang="ru-RU" b="1" dirty="0" err="1"/>
              <a:t>медальйонної</a:t>
            </a:r>
            <a:r>
              <a:rPr lang="ru-RU" b="1" dirty="0"/>
              <a:t> </a:t>
            </a:r>
            <a:r>
              <a:rPr lang="ru-RU" b="1" dirty="0" err="1"/>
              <a:t>архітектури</a:t>
            </a:r>
            <a:r>
              <a:rPr lang="ru-RU" b="1" dirty="0"/>
              <a:t> (</a:t>
            </a:r>
            <a:r>
              <a:rPr lang="en-US" b="1" dirty="0"/>
              <a:t>Bronze – Silver – Gold)</a:t>
            </a:r>
            <a:r>
              <a:rPr lang="en-US" dirty="0"/>
              <a:t> </a:t>
            </a:r>
            <a:r>
              <a:rPr lang="ru-RU" dirty="0"/>
              <a:t>для </a:t>
            </a:r>
            <a:r>
              <a:rPr lang="ru-RU" dirty="0" err="1" smtClean="0"/>
              <a:t>обробки</a:t>
            </a:r>
            <a:r>
              <a:rPr lang="ru-RU" dirty="0" smtClean="0"/>
              <a:t> </a:t>
            </a:r>
            <a:r>
              <a:rPr lang="ru-RU" dirty="0" err="1" smtClean="0"/>
              <a:t>даних</a:t>
            </a:r>
            <a:r>
              <a:rPr lang="ru-RU" dirty="0" smtClean="0"/>
              <a:t> </a:t>
            </a:r>
            <a:r>
              <a:rPr lang="ru-RU" dirty="0"/>
              <a:t>про:</a:t>
            </a:r>
          </a:p>
          <a:p>
            <a:r>
              <a:rPr lang="ru-RU" dirty="0" err="1"/>
              <a:t>щоденні</a:t>
            </a:r>
            <a:r>
              <a:rPr lang="ru-RU" dirty="0"/>
              <a:t> </a:t>
            </a:r>
            <a:r>
              <a:rPr lang="ru-RU" dirty="0" err="1"/>
              <a:t>ціни</a:t>
            </a:r>
            <a:r>
              <a:rPr lang="ru-RU" dirty="0"/>
              <a:t> на </a:t>
            </a:r>
            <a:r>
              <a:rPr lang="ru-RU" dirty="0" err="1"/>
              <a:t>паливо</a:t>
            </a:r>
            <a:r>
              <a:rPr lang="ru-RU" dirty="0"/>
              <a:t> в </a:t>
            </a:r>
            <a:r>
              <a:rPr lang="ru-RU" dirty="0" err="1"/>
              <a:t>Україні</a:t>
            </a:r>
            <a:r>
              <a:rPr lang="ru-RU" dirty="0"/>
              <a:t> (</a:t>
            </a:r>
            <a:r>
              <a:rPr lang="ru-RU" dirty="0" err="1"/>
              <a:t>середні</a:t>
            </a:r>
            <a:r>
              <a:rPr lang="ru-RU" dirty="0"/>
              <a:t> та за брендами) </a:t>
            </a:r>
            <a:r>
              <a:rPr lang="ru-RU" dirty="0" err="1"/>
              <a:t>зі</a:t>
            </a:r>
            <a:r>
              <a:rPr lang="ru-RU" dirty="0"/>
              <a:t> сайту </a:t>
            </a:r>
            <a:r>
              <a:rPr lang="en-US" u="sng" dirty="0">
                <a:hlinkClick r:id="rId2"/>
              </a:rPr>
              <a:t>https://index.minfin.com.ua/ua/markets/fuel</a:t>
            </a:r>
            <a:r>
              <a:rPr lang="en-US" u="sng" dirty="0" smtClean="0">
                <a:hlinkClick r:id="rId2"/>
              </a:rPr>
              <a:t>/</a:t>
            </a:r>
            <a:r>
              <a:rPr lang="en-US" u="sng" dirty="0"/>
              <a:t> detail</a:t>
            </a:r>
            <a:r>
              <a:rPr lang="en-US" u="sng" dirty="0" smtClean="0"/>
              <a:t>/</a:t>
            </a:r>
            <a:endParaRPr lang="en-US" dirty="0"/>
          </a:p>
          <a:p>
            <a:r>
              <a:rPr lang="ru-RU" dirty="0" err="1"/>
              <a:t>офіційні</a:t>
            </a:r>
            <a:r>
              <a:rPr lang="ru-RU" dirty="0"/>
              <a:t> </a:t>
            </a:r>
            <a:r>
              <a:rPr lang="ru-RU" dirty="0" err="1"/>
              <a:t>курси</a:t>
            </a:r>
            <a:r>
              <a:rPr lang="ru-RU" dirty="0"/>
              <a:t> валют </a:t>
            </a:r>
            <a:r>
              <a:rPr lang="ru-RU" dirty="0" smtClean="0"/>
              <a:t>НБУ (</a:t>
            </a:r>
            <a:r>
              <a:rPr lang="en-US" dirty="0" smtClean="0"/>
              <a:t>API)</a:t>
            </a:r>
            <a:endParaRPr lang="ru-RU" dirty="0"/>
          </a:p>
          <a:p>
            <a:r>
              <a:rPr lang="ru-RU" dirty="0" err="1"/>
              <a:t>інформацію</a:t>
            </a:r>
            <a:r>
              <a:rPr lang="ru-RU" dirty="0"/>
              <a:t> про заправки (</a:t>
            </a:r>
            <a:r>
              <a:rPr lang="ru-RU" dirty="0" err="1"/>
              <a:t>локація</a:t>
            </a:r>
            <a:r>
              <a:rPr lang="ru-RU" dirty="0"/>
              <a:t>, </a:t>
            </a:r>
            <a:r>
              <a:rPr lang="ru-RU" dirty="0" err="1"/>
              <a:t>наявність</a:t>
            </a:r>
            <a:r>
              <a:rPr lang="ru-RU" dirty="0"/>
              <a:t> кафе, </a:t>
            </a:r>
            <a:r>
              <a:rPr lang="ru-RU" dirty="0" err="1"/>
              <a:t>мийки</a:t>
            </a:r>
            <a:r>
              <a:rPr lang="ru-RU" dirty="0"/>
              <a:t>, магазину </a:t>
            </a:r>
            <a:r>
              <a:rPr lang="en-US" dirty="0" smtClean="0"/>
              <a:t>-</a:t>
            </a:r>
            <a:r>
              <a:rPr lang="ru-RU" dirty="0" smtClean="0"/>
              <a:t> </a:t>
            </a:r>
            <a:r>
              <a:rPr lang="ru-RU" dirty="0" err="1"/>
              <a:t>дані</a:t>
            </a:r>
            <a:r>
              <a:rPr lang="ru-RU" dirty="0"/>
              <a:t> </a:t>
            </a:r>
            <a:r>
              <a:rPr lang="ru-RU" dirty="0" err="1"/>
              <a:t>згенеровані</a:t>
            </a:r>
            <a:r>
              <a:rPr lang="ru-RU" dirty="0"/>
              <a:t> ШІ).</a:t>
            </a:r>
          </a:p>
          <a:p>
            <a:endParaRPr dirty="0"/>
          </a:p>
          <a:p>
            <a:pPr marL="0" indent="0">
              <a:buNone/>
            </a:pPr>
            <a:r>
              <a:rPr b="1" dirty="0" err="1"/>
              <a:t>Мета</a:t>
            </a:r>
            <a:r>
              <a:rPr dirty="0"/>
              <a:t>: </a:t>
            </a:r>
            <a:r>
              <a:rPr dirty="0" err="1"/>
              <a:t>централізоване</a:t>
            </a:r>
            <a:r>
              <a:rPr dirty="0"/>
              <a:t> </a:t>
            </a:r>
            <a:r>
              <a:rPr dirty="0" err="1"/>
              <a:t>зберігання</a:t>
            </a:r>
            <a:r>
              <a:rPr dirty="0"/>
              <a:t>, </a:t>
            </a:r>
            <a:r>
              <a:rPr dirty="0" err="1"/>
              <a:t>трансформація</a:t>
            </a:r>
            <a:r>
              <a:rPr dirty="0"/>
              <a:t> </a:t>
            </a:r>
            <a:r>
              <a:rPr dirty="0" err="1"/>
              <a:t>та</a:t>
            </a:r>
            <a:r>
              <a:rPr dirty="0"/>
              <a:t> </a:t>
            </a:r>
            <a:r>
              <a:rPr dirty="0" err="1"/>
              <a:t>аналітика</a:t>
            </a:r>
            <a:r>
              <a:rPr dirty="0"/>
              <a:t> </a:t>
            </a:r>
            <a:r>
              <a:rPr lang="ru-RU" dirty="0" smtClean="0"/>
              <a:t> </a:t>
            </a:r>
            <a:r>
              <a:rPr lang="ru-RU" dirty="0" err="1"/>
              <a:t>змін</a:t>
            </a:r>
            <a:r>
              <a:rPr lang="ru-RU" dirty="0"/>
              <a:t> </a:t>
            </a:r>
            <a:r>
              <a:rPr lang="ru-RU" dirty="0" err="1"/>
              <a:t>цін</a:t>
            </a:r>
            <a:r>
              <a:rPr lang="ru-RU" dirty="0"/>
              <a:t> на </a:t>
            </a:r>
            <a:r>
              <a:rPr lang="ru-RU" dirty="0" err="1"/>
              <a:t>паливо</a:t>
            </a:r>
            <a:r>
              <a:rPr lang="ru-RU" dirty="0"/>
              <a:t> та </a:t>
            </a:r>
            <a:r>
              <a:rPr lang="ru-RU" dirty="0" err="1"/>
              <a:t>курсів</a:t>
            </a:r>
            <a:r>
              <a:rPr lang="ru-RU" dirty="0"/>
              <a:t> </a:t>
            </a:r>
            <a:r>
              <a:rPr lang="ru-RU" dirty="0" smtClean="0"/>
              <a:t>валют</a:t>
            </a:r>
            <a:r>
              <a:rPr dirty="0" smtClean="0"/>
              <a:t> </a:t>
            </a:r>
            <a:r>
              <a:rPr dirty="0"/>
              <a:t>Power BI.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spcBef>
                <a:spcPts val="9000"/>
              </a:spcBef>
            </a:pPr>
            <a:r>
              <a:rPr lang="ru-RU" b="1" u="sng" dirty="0" err="1"/>
              <a:t>Архітектура</a:t>
            </a:r>
            <a:r>
              <a:rPr lang="ru-RU" b="1" u="sng" dirty="0"/>
              <a:t> </a:t>
            </a:r>
            <a:r>
              <a:rPr lang="ru-RU" b="1" u="sng" dirty="0" err="1"/>
              <a:t>проєкту</a:t>
            </a:r>
            <a:r>
              <a:rPr lang="ru-RU" b="1" dirty="0"/>
              <a:t/>
            </a:r>
            <a:br>
              <a:rPr lang="ru-RU" b="1" dirty="0"/>
            </a:br>
            <a:endParaRPr lang="en-US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7527" y="1087822"/>
            <a:ext cx="7351617" cy="5038342"/>
          </a:xfrm>
        </p:spPr>
      </p:pic>
    </p:spTree>
    <p:extLst>
      <p:ext uri="{BB962C8B-B14F-4D97-AF65-F5344CB8AC3E}">
        <p14:creationId xmlns:p14="http://schemas.microsoft.com/office/powerpoint/2010/main" val="27961967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u="sng" dirty="0" err="1"/>
              <a:t>Архітектура</a:t>
            </a:r>
            <a:r>
              <a:rPr u="sng" dirty="0"/>
              <a:t> </a:t>
            </a:r>
            <a:r>
              <a:rPr u="sng" dirty="0" err="1"/>
              <a:t>трансформацій</a:t>
            </a:r>
            <a:endParaRPr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686800" cy="4525963"/>
          </a:xfrm>
        </p:spPr>
        <p:txBody>
          <a:bodyPr>
            <a:normAutofit/>
          </a:bodyPr>
          <a:lstStyle/>
          <a:p>
            <a:r>
              <a:rPr sz="2800" dirty="0" smtClean="0"/>
              <a:t>Bronze </a:t>
            </a:r>
            <a:r>
              <a:rPr lang="en-US" sz="2800" dirty="0"/>
              <a:t>-</a:t>
            </a:r>
            <a:r>
              <a:rPr sz="2800" dirty="0" smtClean="0"/>
              <a:t> </a:t>
            </a:r>
            <a:r>
              <a:rPr sz="2800" dirty="0" err="1"/>
              <a:t>завантаження</a:t>
            </a:r>
            <a:r>
              <a:rPr sz="2800" dirty="0"/>
              <a:t> </a:t>
            </a:r>
            <a:r>
              <a:rPr lang="ru-RU" sz="2800" dirty="0" err="1" smtClean="0"/>
              <a:t>даних</a:t>
            </a:r>
            <a:r>
              <a:rPr lang="ru-RU" sz="2800" dirty="0" smtClean="0"/>
              <a:t> </a:t>
            </a:r>
            <a:r>
              <a:rPr lang="ru-RU" sz="2800" dirty="0" err="1" smtClean="0"/>
              <a:t>сирих</a:t>
            </a:r>
            <a:r>
              <a:rPr lang="ru-RU" sz="2800" dirty="0" smtClean="0"/>
              <a:t> </a:t>
            </a:r>
            <a:r>
              <a:rPr lang="ru-RU" sz="2800" dirty="0" err="1" smtClean="0"/>
              <a:t>даних</a:t>
            </a:r>
            <a:r>
              <a:rPr lang="ru-RU" sz="2800" dirty="0" smtClean="0"/>
              <a:t> з </a:t>
            </a:r>
            <a:r>
              <a:rPr sz="2800" dirty="0" err="1" smtClean="0"/>
              <a:t>Minfin</a:t>
            </a:r>
            <a:r>
              <a:rPr lang="ru-RU" sz="2800" dirty="0" smtClean="0"/>
              <a:t> , </a:t>
            </a:r>
            <a:r>
              <a:rPr lang="en-US" sz="2800" dirty="0"/>
              <a:t>(API </a:t>
            </a:r>
            <a:r>
              <a:rPr lang="ru-RU" sz="2800" dirty="0"/>
              <a:t>НБУ), </a:t>
            </a:r>
            <a:r>
              <a:rPr lang="en-US" sz="2800" dirty="0"/>
              <a:t>CSV (</a:t>
            </a:r>
            <a:r>
              <a:rPr lang="en-US" sz="2800" dirty="0" err="1"/>
              <a:t>GitHub</a:t>
            </a:r>
            <a:r>
              <a:rPr lang="en-US" sz="2800" dirty="0" smtClean="0"/>
              <a:t>),</a:t>
            </a:r>
            <a:r>
              <a:rPr lang="ru-RU" sz="2800" dirty="0" err="1" smtClean="0"/>
              <a:t>зберігання</a:t>
            </a:r>
            <a:r>
              <a:rPr lang="ru-RU" sz="2800" dirty="0" smtClean="0"/>
              <a:t> </a:t>
            </a:r>
            <a:r>
              <a:rPr lang="ru-RU" sz="2800" dirty="0"/>
              <a:t>у </a:t>
            </a:r>
            <a:r>
              <a:rPr lang="en-US" sz="2800" dirty="0" smtClean="0"/>
              <a:t>Parquet</a:t>
            </a:r>
            <a:r>
              <a:rPr lang="ru-RU" sz="2800" dirty="0" smtClean="0"/>
              <a:t>.</a:t>
            </a:r>
            <a:endParaRPr lang="en-US" sz="2800" dirty="0" smtClean="0"/>
          </a:p>
          <a:p>
            <a:r>
              <a:rPr lang="en-US" sz="2800" dirty="0"/>
              <a:t>Silver </a:t>
            </a:r>
            <a:r>
              <a:rPr lang="en-US" sz="2800" dirty="0" smtClean="0"/>
              <a:t>- </a:t>
            </a:r>
            <a:r>
              <a:rPr lang="ru-RU" sz="2800" dirty="0" err="1" smtClean="0"/>
              <a:t>очищення</a:t>
            </a:r>
            <a:r>
              <a:rPr lang="ru-RU" sz="2800" dirty="0"/>
              <a:t>, </a:t>
            </a:r>
            <a:r>
              <a:rPr lang="ru-RU" sz="2800" dirty="0" err="1"/>
              <a:t>трансформації</a:t>
            </a:r>
            <a:r>
              <a:rPr lang="ru-RU" sz="2800" dirty="0"/>
              <a:t> у </a:t>
            </a:r>
            <a:r>
              <a:rPr lang="en-US" sz="2800" dirty="0" err="1"/>
              <a:t>Databricks</a:t>
            </a:r>
            <a:r>
              <a:rPr lang="en-US" sz="2800" dirty="0"/>
              <a:t>, Delta Lake</a:t>
            </a:r>
            <a:r>
              <a:rPr lang="en-US" sz="2800" dirty="0" smtClean="0"/>
              <a:t>.</a:t>
            </a:r>
          </a:p>
          <a:p>
            <a:r>
              <a:rPr lang="en-US" sz="2800" dirty="0"/>
              <a:t>Gold </a:t>
            </a:r>
            <a:r>
              <a:rPr lang="en-US" sz="2800" dirty="0" smtClean="0"/>
              <a:t>- </a:t>
            </a:r>
            <a:r>
              <a:rPr lang="ru-RU" sz="2800" dirty="0" err="1"/>
              <a:t>інкрементальне</a:t>
            </a:r>
            <a:r>
              <a:rPr lang="ru-RU" sz="2800" dirty="0"/>
              <a:t> </a:t>
            </a:r>
            <a:r>
              <a:rPr lang="ru-RU" sz="2800" dirty="0" err="1"/>
              <a:t>завантаження</a:t>
            </a:r>
            <a:r>
              <a:rPr lang="ru-RU" sz="2800" dirty="0"/>
              <a:t> у </a:t>
            </a:r>
            <a:r>
              <a:rPr lang="en-US" sz="2800" dirty="0"/>
              <a:t>Azure SQL Database, Star Schema.</a:t>
            </a:r>
          </a:p>
          <a:p>
            <a:pPr marL="0" indent="0">
              <a:buNone/>
            </a:pPr>
            <a:r>
              <a:rPr lang="ru-RU" sz="2800" dirty="0" smtClean="0"/>
              <a:t/>
            </a:r>
            <a:br>
              <a:rPr lang="ru-RU" sz="2800" dirty="0" smtClean="0"/>
            </a:br>
            <a:r>
              <a:rPr lang="ru-RU" sz="2800" dirty="0" smtClean="0"/>
              <a:t/>
            </a:r>
            <a:br>
              <a:rPr lang="ru-RU" sz="2800" dirty="0" smtClean="0"/>
            </a:br>
            <a:endParaRPr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u="sng" dirty="0" smtClean="0"/>
              <a:t>Bronze</a:t>
            </a:r>
            <a:r>
              <a:rPr lang="en-US" u="sng" dirty="0" smtClean="0"/>
              <a:t> Layer</a:t>
            </a:r>
            <a:endParaRPr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84834"/>
          </a:xfrm>
        </p:spPr>
        <p:txBody>
          <a:bodyPr>
            <a:normAutofit/>
          </a:bodyPr>
          <a:lstStyle/>
          <a:p>
            <a:r>
              <a:rPr sz="1800" dirty="0" smtClean="0"/>
              <a:t> </a:t>
            </a:r>
            <a:r>
              <a:rPr sz="1800" b="1" u="sng" dirty="0" err="1" smtClean="0"/>
              <a:t>Джерела</a:t>
            </a:r>
            <a:r>
              <a:rPr lang="en-US" sz="1800" b="1" u="sng" dirty="0" smtClean="0"/>
              <a:t> </a:t>
            </a:r>
            <a:r>
              <a:rPr lang="ru-RU" sz="1800" b="1" u="sng" dirty="0" err="1" smtClean="0"/>
              <a:t>даних</a:t>
            </a:r>
            <a:r>
              <a:rPr sz="1800" dirty="0" smtClean="0"/>
              <a:t>: </a:t>
            </a:r>
            <a:endParaRPr lang="en-US" sz="1800" dirty="0" smtClean="0"/>
          </a:p>
          <a:p>
            <a:pPr marL="0" indent="0">
              <a:buNone/>
            </a:pPr>
            <a:r>
              <a:rPr lang="en-US" sz="1800" dirty="0" smtClean="0"/>
              <a:t>    - </a:t>
            </a:r>
            <a:r>
              <a:rPr sz="1800" b="1" dirty="0" err="1" smtClean="0"/>
              <a:t>веб-скрапінг</a:t>
            </a:r>
            <a:r>
              <a:rPr sz="1800" b="1" dirty="0" smtClean="0"/>
              <a:t> </a:t>
            </a:r>
            <a:r>
              <a:rPr sz="1800" dirty="0" smtClean="0"/>
              <a:t>(</a:t>
            </a:r>
            <a:r>
              <a:rPr lang="en-US" sz="1800" dirty="0" err="1"/>
              <a:t>BeautifulSoup</a:t>
            </a:r>
            <a:r>
              <a:rPr sz="1800" dirty="0" smtClean="0"/>
              <a:t>)</a:t>
            </a:r>
            <a:r>
              <a:rPr lang="en-US" sz="1800" dirty="0" smtClean="0"/>
              <a:t> ,</a:t>
            </a:r>
            <a:r>
              <a:rPr lang="en-US" sz="1800" dirty="0" err="1" smtClean="0"/>
              <a:t>Minfin</a:t>
            </a:r>
            <a:r>
              <a:rPr lang="en-US" sz="1800" dirty="0" smtClean="0"/>
              <a:t>:</a:t>
            </a:r>
            <a:r>
              <a:rPr lang="ru-RU" sz="1800" dirty="0" smtClean="0"/>
              <a:t/>
            </a:r>
            <a:br>
              <a:rPr lang="ru-RU" sz="1800" dirty="0" smtClean="0"/>
            </a:br>
            <a:r>
              <a:rPr lang="ru-RU" sz="1800" dirty="0" smtClean="0"/>
              <a:t>        -</a:t>
            </a:r>
            <a:r>
              <a:rPr lang="ru-RU" sz="1800" dirty="0" err="1" smtClean="0"/>
              <a:t>щоденні</a:t>
            </a:r>
            <a:r>
              <a:rPr lang="ru-RU" sz="1800" dirty="0" smtClean="0"/>
              <a:t> </a:t>
            </a:r>
            <a:r>
              <a:rPr lang="ru-RU" sz="1800" dirty="0" err="1" smtClean="0"/>
              <a:t>ціни</a:t>
            </a:r>
            <a:r>
              <a:rPr lang="ru-RU" sz="1800" dirty="0" smtClean="0"/>
              <a:t> на </a:t>
            </a:r>
            <a:r>
              <a:rPr lang="ru-RU" sz="1800" dirty="0" err="1" smtClean="0"/>
              <a:t>паливо</a:t>
            </a:r>
            <a:r>
              <a:rPr lang="ru-RU" sz="1800" dirty="0" smtClean="0"/>
              <a:t> за </a:t>
            </a:r>
            <a:r>
              <a:rPr lang="ru-RU" sz="1800" dirty="0" err="1" smtClean="0"/>
              <a:t>брендами,регіонами</a:t>
            </a:r>
            <a:r>
              <a:rPr lang="ru-RU" sz="1800" dirty="0" smtClean="0"/>
              <a:t> та типами </a:t>
            </a:r>
            <a:r>
              <a:rPr lang="ru-RU" sz="1800" dirty="0" err="1" smtClean="0"/>
              <a:t>палива</a:t>
            </a:r>
            <a:r>
              <a:rPr lang="en-US" sz="1800" dirty="0"/>
              <a:t/>
            </a:r>
            <a:br>
              <a:rPr lang="en-US" sz="1800" dirty="0"/>
            </a:br>
            <a:r>
              <a:rPr lang="en-US" sz="1800" dirty="0"/>
              <a:t>      </a:t>
            </a:r>
            <a:r>
              <a:rPr lang="ru-RU" sz="1800" dirty="0" smtClean="0"/>
              <a:t> </a:t>
            </a:r>
            <a:r>
              <a:rPr lang="en-US" sz="1800" dirty="0" smtClean="0"/>
              <a:t> </a:t>
            </a:r>
            <a:r>
              <a:rPr lang="ru-RU" sz="1800" dirty="0" smtClean="0"/>
              <a:t>      </a:t>
            </a:r>
            <a:r>
              <a:rPr lang="en-US" sz="1800" dirty="0" smtClean="0"/>
              <a:t>- </a:t>
            </a:r>
            <a:r>
              <a:rPr lang="en-US" sz="1800" dirty="0" smtClean="0">
                <a:hlinkClick r:id="rId2"/>
              </a:rPr>
              <a:t>https://index.minfin.com.ua/ua/markets/fuel/detail/</a:t>
            </a:r>
            <a:r>
              <a:rPr lang="ru-RU" sz="1800" dirty="0" smtClean="0"/>
              <a:t/>
            </a:r>
            <a:br>
              <a:rPr lang="ru-RU" sz="1800" dirty="0" smtClean="0"/>
            </a:br>
            <a:r>
              <a:rPr lang="ru-RU" sz="1800" dirty="0" smtClean="0"/>
              <a:t>        - </a:t>
            </a:r>
            <a:r>
              <a:rPr lang="ru-RU" sz="1800" dirty="0" err="1" smtClean="0"/>
              <a:t>щоденні</a:t>
            </a:r>
            <a:r>
              <a:rPr lang="ru-RU" sz="1800" dirty="0" smtClean="0"/>
              <a:t> та </a:t>
            </a:r>
            <a:r>
              <a:rPr lang="ru-RU" sz="1800" dirty="0" err="1" smtClean="0"/>
              <a:t>історичні</a:t>
            </a:r>
            <a:r>
              <a:rPr lang="ru-RU" sz="1800" dirty="0" smtClean="0"/>
              <a:t> </a:t>
            </a:r>
            <a:r>
              <a:rPr lang="ru-RU" sz="1800" dirty="0" err="1" smtClean="0"/>
              <a:t>дані</a:t>
            </a:r>
            <a:r>
              <a:rPr lang="ru-RU" sz="1800" dirty="0" smtClean="0"/>
              <a:t> по </a:t>
            </a:r>
            <a:r>
              <a:rPr lang="ru-RU" sz="1800" dirty="0" err="1" smtClean="0"/>
              <a:t>середніх</a:t>
            </a:r>
            <a:r>
              <a:rPr lang="ru-RU" sz="1800" dirty="0" smtClean="0"/>
              <a:t> </a:t>
            </a:r>
            <a:r>
              <a:rPr lang="ru-RU" sz="1800" dirty="0" err="1" smtClean="0"/>
              <a:t>цінах</a:t>
            </a:r>
            <a:r>
              <a:rPr lang="ru-RU" sz="1800" dirty="0" smtClean="0"/>
              <a:t> </a:t>
            </a:r>
            <a:r>
              <a:rPr lang="ru-RU" sz="1800" dirty="0"/>
              <a:t>за </a:t>
            </a:r>
            <a:r>
              <a:rPr lang="ru-RU" sz="1800" dirty="0" err="1" smtClean="0"/>
              <a:t>регіонами</a:t>
            </a:r>
            <a:r>
              <a:rPr lang="ru-RU" sz="1800" dirty="0" smtClean="0"/>
              <a:t> </a:t>
            </a:r>
            <a:r>
              <a:rPr lang="ru-RU" sz="1800" dirty="0"/>
              <a:t>та типами </a:t>
            </a:r>
            <a:r>
              <a:rPr lang="ru-RU" sz="1800" dirty="0" err="1" smtClean="0"/>
              <a:t>палива</a:t>
            </a:r>
            <a:r>
              <a:rPr lang="ru-RU" sz="1800" dirty="0" smtClean="0"/>
              <a:t/>
            </a:r>
            <a:br>
              <a:rPr lang="ru-RU" sz="1800" dirty="0" smtClean="0"/>
            </a:br>
            <a:r>
              <a:rPr lang="ru-RU" sz="1800" dirty="0" smtClean="0"/>
              <a:t>             -  </a:t>
            </a:r>
            <a:r>
              <a:rPr lang="en-US" sz="1800" dirty="0" smtClean="0"/>
              <a:t>https</a:t>
            </a:r>
            <a:r>
              <a:rPr lang="en-US" sz="1800" dirty="0"/>
              <a:t>://index.minfin.com.ua/ua/markets/fuel/reg/vinnickaya/2025-01</a:t>
            </a:r>
            <a:r>
              <a:rPr lang="en-US" sz="1800" dirty="0" smtClean="0"/>
              <a:t>/</a:t>
            </a:r>
            <a:r>
              <a:rPr lang="ru-RU" sz="1800" dirty="0" smtClean="0"/>
              <a:t/>
            </a:r>
            <a:br>
              <a:rPr lang="ru-RU" sz="1800" dirty="0" smtClean="0"/>
            </a:br>
            <a:r>
              <a:rPr lang="ru-RU" sz="1800" dirty="0" smtClean="0"/>
              <a:t>   - </a:t>
            </a:r>
            <a:r>
              <a:rPr lang="en-US" sz="1800" b="1" dirty="0" smtClean="0"/>
              <a:t>API</a:t>
            </a:r>
            <a:r>
              <a:rPr lang="ru-RU" sz="1800" b="1" dirty="0" smtClean="0"/>
              <a:t> </a:t>
            </a:r>
            <a:r>
              <a:rPr lang="en-US" sz="1800" b="1" dirty="0"/>
              <a:t>NBU </a:t>
            </a:r>
            <a:r>
              <a:rPr lang="en-US" sz="1800" b="1" dirty="0" smtClean="0"/>
              <a:t/>
            </a:r>
            <a:br>
              <a:rPr lang="en-US" sz="1800" b="1" dirty="0" smtClean="0"/>
            </a:br>
            <a:r>
              <a:rPr lang="en-US" sz="1800" b="1" dirty="0" smtClean="0"/>
              <a:t>       </a:t>
            </a:r>
            <a:r>
              <a:rPr lang="en-US" sz="1800" dirty="0" smtClean="0"/>
              <a:t>- </a:t>
            </a:r>
            <a:r>
              <a:rPr lang="en-US" sz="1800" dirty="0" smtClean="0">
                <a:hlinkClick r:id="rId3"/>
              </a:rPr>
              <a:t>https</a:t>
            </a:r>
            <a:r>
              <a:rPr lang="en-US" sz="1800" dirty="0">
                <a:hlinkClick r:id="rId3"/>
              </a:rPr>
              <a:t>://</a:t>
            </a:r>
            <a:r>
              <a:rPr lang="en-US" sz="1800" dirty="0" smtClean="0">
                <a:hlinkClick r:id="rId3"/>
              </a:rPr>
              <a:t>bank.gov.ua/NBUStatService/v1/statdirectory/exchange?json</a:t>
            </a:r>
            <a:r>
              <a:rPr lang="en-US" sz="1800" dirty="0" smtClean="0"/>
              <a:t/>
            </a:r>
            <a:br>
              <a:rPr lang="en-US" sz="1800" dirty="0" smtClean="0"/>
            </a:br>
            <a:r>
              <a:rPr lang="en-US" sz="1800" dirty="0" smtClean="0"/>
              <a:t>      </a:t>
            </a:r>
            <a:r>
              <a:rPr lang="ru-RU" sz="1800" dirty="0" err="1" smtClean="0"/>
              <a:t>Використовується</a:t>
            </a:r>
            <a:r>
              <a:rPr lang="ru-RU" sz="1800" dirty="0" smtClean="0"/>
              <a:t> </a:t>
            </a:r>
            <a:r>
              <a:rPr lang="ru-RU" sz="1800" dirty="0"/>
              <a:t>параметр: </a:t>
            </a:r>
            <a:r>
              <a:rPr lang="ru-RU" sz="1800" dirty="0" err="1"/>
              <a:t>якщо</a:t>
            </a:r>
            <a:r>
              <a:rPr lang="ru-RU" sz="1800" dirty="0"/>
              <a:t> </a:t>
            </a:r>
            <a:r>
              <a:rPr lang="ru-RU" sz="1800" dirty="0" err="1"/>
              <a:t>дані</a:t>
            </a:r>
            <a:r>
              <a:rPr lang="ru-RU" sz="1800" dirty="0"/>
              <a:t> </a:t>
            </a:r>
            <a:r>
              <a:rPr lang="ru-RU" sz="1800" i="1" dirty="0" err="1"/>
              <a:t>щоденні</a:t>
            </a:r>
            <a:r>
              <a:rPr lang="ru-RU" sz="1800" dirty="0"/>
              <a:t>  </a:t>
            </a:r>
            <a:r>
              <a:rPr lang="ru-RU" sz="1800" dirty="0" smtClean="0"/>
              <a:t>- </a:t>
            </a:r>
            <a:r>
              <a:rPr lang="ru-RU" sz="1800" dirty="0" err="1" smtClean="0"/>
              <a:t>виконується</a:t>
            </a:r>
            <a:r>
              <a:rPr lang="ru-RU" sz="1800" dirty="0"/>
              <a:t> </a:t>
            </a:r>
            <a:r>
              <a:rPr lang="en-US" sz="1800" i="1" dirty="0"/>
              <a:t>copy activities</a:t>
            </a:r>
            <a:r>
              <a:rPr lang="en-US" sz="1800" dirty="0"/>
              <a:t>,</a:t>
            </a:r>
            <a:br>
              <a:rPr lang="en-US" sz="1800" dirty="0"/>
            </a:br>
            <a:r>
              <a:rPr lang="en-US" sz="1800" dirty="0" smtClean="0"/>
              <a:t>      </a:t>
            </a:r>
            <a:r>
              <a:rPr lang="ru-RU" sz="1800" dirty="0" smtClean="0"/>
              <a:t>у </a:t>
            </a:r>
            <a:r>
              <a:rPr lang="ru-RU" sz="1800" dirty="0" err="1"/>
              <a:t>випадку</a:t>
            </a:r>
            <a:r>
              <a:rPr lang="ru-RU" sz="1800" dirty="0"/>
              <a:t> </a:t>
            </a:r>
            <a:r>
              <a:rPr lang="ru-RU" sz="1800" i="1" dirty="0" err="1"/>
              <a:t>історичних</a:t>
            </a:r>
            <a:r>
              <a:rPr lang="ru-RU" sz="1800" dirty="0"/>
              <a:t>  </a:t>
            </a:r>
            <a:r>
              <a:rPr lang="ru-RU" sz="1800" dirty="0" smtClean="0"/>
              <a:t>- </a:t>
            </a:r>
            <a:r>
              <a:rPr lang="ru-RU" sz="1800" dirty="0" err="1" smtClean="0"/>
              <a:t>застосовується</a:t>
            </a:r>
            <a:r>
              <a:rPr lang="ru-RU" sz="1800" dirty="0" smtClean="0"/>
              <a:t> </a:t>
            </a:r>
            <a:r>
              <a:rPr lang="ru-RU" sz="1800" dirty="0" err="1"/>
              <a:t>окремий</a:t>
            </a:r>
            <a:r>
              <a:rPr lang="ru-RU" sz="1800" dirty="0"/>
              <a:t> </a:t>
            </a:r>
            <a:r>
              <a:rPr lang="ru-RU" sz="1800" dirty="0" smtClean="0"/>
              <a:t>код</a:t>
            </a:r>
            <a:r>
              <a:rPr lang="en-US" sz="1800" dirty="0" smtClean="0"/>
              <a:t>  </a:t>
            </a:r>
            <a:r>
              <a:rPr lang="ru-RU" sz="1800" dirty="0" smtClean="0"/>
              <a:t> </a:t>
            </a:r>
            <a:r>
              <a:rPr lang="ru-RU" sz="1800" dirty="0"/>
              <a:t>для </a:t>
            </a:r>
            <a:r>
              <a:rPr lang="ru-RU" sz="1800" dirty="0" err="1"/>
              <a:t>обробки</a:t>
            </a:r>
            <a:r>
              <a:rPr lang="ru-RU" sz="1800" dirty="0"/>
              <a:t>.</a:t>
            </a:r>
          </a:p>
          <a:p>
            <a:pPr marL="0" indent="0">
              <a:buNone/>
            </a:pPr>
            <a:r>
              <a:rPr lang="en-US" sz="1800" dirty="0" smtClean="0"/>
              <a:t> </a:t>
            </a:r>
            <a:r>
              <a:rPr lang="ru-RU" sz="1800" dirty="0" smtClean="0"/>
              <a:t> </a:t>
            </a:r>
            <a:r>
              <a:rPr lang="en-US" sz="1800" dirty="0" smtClean="0"/>
              <a:t> - </a:t>
            </a:r>
            <a:r>
              <a:rPr lang="en-US" sz="1800" b="1" dirty="0"/>
              <a:t>CSV-</a:t>
            </a:r>
            <a:r>
              <a:rPr lang="ru-RU" sz="1800" b="1" dirty="0" smtClean="0"/>
              <a:t>файл</a:t>
            </a:r>
            <a:r>
              <a:rPr lang="ru-RU" sz="1800" dirty="0"/>
              <a:t> — </a:t>
            </a:r>
            <a:r>
              <a:rPr lang="ru-RU" sz="1800" dirty="0" err="1" smtClean="0"/>
              <a:t>розміщений</a:t>
            </a:r>
            <a:r>
              <a:rPr lang="ru-RU" sz="1800" dirty="0" smtClean="0"/>
              <a:t> </a:t>
            </a:r>
            <a:r>
              <a:rPr lang="ru-RU" sz="1800" dirty="0"/>
              <a:t>у </a:t>
            </a:r>
            <a:r>
              <a:rPr lang="ru-RU" sz="1800" dirty="0" err="1"/>
              <a:t>репозиторії</a:t>
            </a:r>
            <a:r>
              <a:rPr lang="ru-RU" sz="1800" dirty="0"/>
              <a:t> </a:t>
            </a:r>
            <a:r>
              <a:rPr lang="en-US" sz="1800" dirty="0" err="1" smtClean="0"/>
              <a:t>GitHub</a:t>
            </a:r>
            <a:r>
              <a:rPr lang="en-US" sz="1800" dirty="0" smtClean="0"/>
              <a:t> </a:t>
            </a:r>
            <a:r>
              <a:rPr lang="ru-RU" sz="1800" dirty="0" smtClean="0"/>
              <a:t> - </a:t>
            </a:r>
            <a:r>
              <a:rPr lang="en-US" sz="1800" dirty="0" smtClean="0"/>
              <a:t> </a:t>
            </a:r>
            <a:r>
              <a:rPr lang="ru-RU" sz="1800" dirty="0" err="1"/>
              <a:t>Інформація</a:t>
            </a:r>
            <a:r>
              <a:rPr lang="ru-RU" sz="1800" dirty="0"/>
              <a:t> про заправки (</a:t>
            </a:r>
            <a:r>
              <a:rPr lang="ru-RU" sz="1800" dirty="0" err="1"/>
              <a:t>локація</a:t>
            </a:r>
            <a:r>
              <a:rPr lang="ru-RU" sz="1800" dirty="0"/>
              <a:t>, </a:t>
            </a:r>
            <a:r>
              <a:rPr lang="ru-RU" sz="1800" dirty="0" err="1"/>
              <a:t>наявність</a:t>
            </a:r>
            <a:r>
              <a:rPr lang="ru-RU" sz="1800" dirty="0"/>
              <a:t> </a:t>
            </a:r>
            <a:r>
              <a:rPr lang="ru-RU" sz="1800" dirty="0" smtClean="0"/>
              <a:t> кафе</a:t>
            </a:r>
            <a:r>
              <a:rPr lang="ru-RU" sz="1800" dirty="0"/>
              <a:t>, </a:t>
            </a:r>
            <a:r>
              <a:rPr lang="ru-RU" sz="1800" dirty="0" err="1"/>
              <a:t>мийки</a:t>
            </a:r>
            <a:r>
              <a:rPr lang="ru-RU" sz="1800" dirty="0"/>
              <a:t>, магазину  </a:t>
            </a:r>
            <a:r>
              <a:rPr lang="ru-RU" sz="1800" dirty="0" smtClean="0"/>
              <a:t>- </a:t>
            </a:r>
            <a:r>
              <a:rPr lang="ru-RU" sz="1800" dirty="0" err="1" smtClean="0"/>
              <a:t>дані</a:t>
            </a:r>
            <a:r>
              <a:rPr lang="ru-RU" sz="1800" dirty="0" smtClean="0"/>
              <a:t> </a:t>
            </a:r>
            <a:r>
              <a:rPr lang="ru-RU" sz="1800" dirty="0" err="1"/>
              <a:t>згенеровані</a:t>
            </a:r>
            <a:r>
              <a:rPr lang="ru-RU" sz="1800" dirty="0"/>
              <a:t> ШІ</a:t>
            </a:r>
            <a:r>
              <a:rPr lang="ru-RU" sz="1800" dirty="0" smtClean="0"/>
              <a:t>).</a:t>
            </a:r>
          </a:p>
          <a:p>
            <a:r>
              <a:rPr lang="ru-RU" sz="1800" dirty="0" err="1"/>
              <a:t>Збереження</a:t>
            </a:r>
            <a:r>
              <a:rPr lang="ru-RU" sz="1800" dirty="0"/>
              <a:t> у </a:t>
            </a:r>
            <a:r>
              <a:rPr lang="ru-RU" sz="1800" dirty="0" err="1"/>
              <a:t>Parquet</a:t>
            </a:r>
            <a:r>
              <a:rPr lang="ru-RU" sz="1800" dirty="0"/>
              <a:t> у </a:t>
            </a:r>
            <a:r>
              <a:rPr lang="ru-RU" sz="1800" dirty="0" err="1"/>
              <a:t>Data</a:t>
            </a:r>
            <a:r>
              <a:rPr lang="ru-RU" sz="1800" dirty="0"/>
              <a:t> </a:t>
            </a:r>
            <a:r>
              <a:rPr lang="ru-RU" sz="1800" dirty="0" err="1"/>
              <a:t>Lake</a:t>
            </a:r>
            <a:r>
              <a:rPr lang="ru-RU" sz="1800" dirty="0" smtClean="0"/>
              <a:t>.</a:t>
            </a:r>
          </a:p>
          <a:p>
            <a:r>
              <a:rPr lang="ru-RU" sz="1800" dirty="0" err="1"/>
              <a:t>Д</a:t>
            </a:r>
            <a:r>
              <a:rPr lang="ru-RU" sz="1800" dirty="0" err="1" smtClean="0"/>
              <a:t>ані</a:t>
            </a:r>
            <a:r>
              <a:rPr lang="ru-RU" sz="1800" dirty="0" smtClean="0"/>
              <a:t> </a:t>
            </a:r>
            <a:r>
              <a:rPr lang="ru-RU" sz="1800" dirty="0" err="1"/>
              <a:t>логуються</a:t>
            </a:r>
            <a:r>
              <a:rPr lang="ru-RU" sz="1800" dirty="0"/>
              <a:t> у </a:t>
            </a:r>
            <a:r>
              <a:rPr lang="ru-RU" sz="1800" dirty="0" err="1"/>
              <a:t>Delta</a:t>
            </a:r>
            <a:r>
              <a:rPr lang="ru-RU" sz="1800" dirty="0"/>
              <a:t> </a:t>
            </a:r>
            <a:r>
              <a:rPr lang="ru-RU" sz="1800" dirty="0" err="1"/>
              <a:t>таблицях</a:t>
            </a:r>
            <a:endParaRPr lang="ru-RU" sz="1800" dirty="0"/>
          </a:p>
          <a:p>
            <a:endParaRPr sz="1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u="sng" dirty="0" smtClean="0"/>
              <a:t>Silver</a:t>
            </a:r>
            <a:r>
              <a:rPr lang="ru-RU" u="sng" dirty="0"/>
              <a:t> </a:t>
            </a:r>
            <a:r>
              <a:rPr lang="en-US" u="sng" dirty="0" smtClean="0"/>
              <a:t>Layer</a:t>
            </a:r>
            <a:endParaRPr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2607" y="1245476"/>
            <a:ext cx="8229600" cy="5337887"/>
          </a:xfrm>
        </p:spPr>
        <p:txBody>
          <a:bodyPr/>
          <a:lstStyle/>
          <a:p>
            <a:pPr marL="0" indent="0">
              <a:buNone/>
            </a:pPr>
            <a:r>
              <a:rPr lang="en-US" b="1" dirty="0" err="1"/>
              <a:t>O</a:t>
            </a:r>
            <a:r>
              <a:rPr lang="ru-RU" b="1" dirty="0" err="1" smtClean="0"/>
              <a:t>чищення</a:t>
            </a:r>
            <a:r>
              <a:rPr lang="ru-RU" b="1" dirty="0" smtClean="0"/>
              <a:t> </a:t>
            </a:r>
            <a:r>
              <a:rPr lang="ru-RU" b="1" dirty="0"/>
              <a:t>та </a:t>
            </a:r>
            <a:r>
              <a:rPr lang="ru-RU" b="1" dirty="0" err="1"/>
              <a:t>трансформації</a:t>
            </a:r>
            <a:r>
              <a:rPr lang="ru-RU" b="1" dirty="0"/>
              <a:t> у </a:t>
            </a:r>
            <a:r>
              <a:rPr lang="ru-RU" b="1" dirty="0" err="1"/>
              <a:t>Databricks</a:t>
            </a:r>
            <a:endParaRPr lang="en-US" dirty="0" smtClean="0"/>
          </a:p>
          <a:p>
            <a:r>
              <a:rPr lang="ru-RU" sz="2400" dirty="0" err="1"/>
              <a:t>Середні</a:t>
            </a:r>
            <a:r>
              <a:rPr lang="ru-RU" sz="2400" dirty="0"/>
              <a:t> </a:t>
            </a:r>
            <a:r>
              <a:rPr lang="ru-RU" sz="2400" dirty="0" err="1"/>
              <a:t>ціни</a:t>
            </a:r>
            <a:r>
              <a:rPr lang="ru-RU" sz="2400" dirty="0"/>
              <a:t> </a:t>
            </a:r>
            <a:r>
              <a:rPr lang="ru-RU" sz="2400" dirty="0" err="1" smtClean="0"/>
              <a:t>палива</a:t>
            </a:r>
            <a:r>
              <a:rPr lang="ru-RU" sz="2400" dirty="0" smtClean="0"/>
              <a:t> (</a:t>
            </a:r>
            <a:r>
              <a:rPr lang="en-US" sz="2400" dirty="0" err="1" smtClean="0"/>
              <a:t>avg_price</a:t>
            </a:r>
            <a:r>
              <a:rPr lang="en-US" sz="2400" dirty="0" smtClean="0"/>
              <a:t>) -</a:t>
            </a:r>
            <a:r>
              <a:rPr lang="ru-RU" sz="2400" dirty="0" smtClean="0"/>
              <a:t> </a:t>
            </a:r>
            <a:r>
              <a:rPr lang="ru-RU" sz="2400" dirty="0" err="1" smtClean="0"/>
              <a:t>нормалізація</a:t>
            </a:r>
            <a:r>
              <a:rPr lang="ru-RU" sz="2400" dirty="0"/>
              <a:t>, </a:t>
            </a:r>
            <a:r>
              <a:rPr lang="ru-RU" sz="2400" dirty="0" err="1"/>
              <a:t>приведення</a:t>
            </a:r>
            <a:r>
              <a:rPr lang="ru-RU" sz="2400" dirty="0"/>
              <a:t> </a:t>
            </a:r>
            <a:r>
              <a:rPr lang="ru-RU" sz="2400" dirty="0" err="1"/>
              <a:t>типів</a:t>
            </a:r>
            <a:r>
              <a:rPr lang="ru-RU" sz="2400" dirty="0"/>
              <a:t>, </a:t>
            </a:r>
            <a:r>
              <a:rPr lang="ru-RU" sz="2400" dirty="0" err="1"/>
              <a:t>видалення</a:t>
            </a:r>
            <a:r>
              <a:rPr lang="ru-RU" sz="2400" dirty="0"/>
              <a:t> </a:t>
            </a:r>
            <a:r>
              <a:rPr lang="ru-RU" sz="2400" dirty="0" err="1"/>
              <a:t>пропусків</a:t>
            </a:r>
            <a:r>
              <a:rPr lang="ru-RU" sz="2400" dirty="0"/>
              <a:t>, </a:t>
            </a:r>
            <a:r>
              <a:rPr lang="ru-RU" sz="2400" dirty="0" err="1"/>
              <a:t>завантаження</a:t>
            </a:r>
            <a:r>
              <a:rPr lang="ru-RU" sz="2400" dirty="0"/>
              <a:t> в </a:t>
            </a:r>
            <a:r>
              <a:rPr lang="ru-RU" sz="2400" dirty="0" err="1"/>
              <a:t>Delta</a:t>
            </a:r>
            <a:r>
              <a:rPr lang="ru-RU" sz="2400" dirty="0"/>
              <a:t> </a:t>
            </a:r>
            <a:r>
              <a:rPr lang="ru-RU" sz="2400" dirty="0" err="1"/>
              <a:t>Lake</a:t>
            </a:r>
            <a:r>
              <a:rPr lang="ru-RU" sz="2400" dirty="0"/>
              <a:t>.</a:t>
            </a:r>
          </a:p>
          <a:p>
            <a:r>
              <a:rPr lang="ru-RU" sz="2400" dirty="0" smtClean="0"/>
              <a:t>Бренди</a:t>
            </a:r>
            <a:r>
              <a:rPr lang="en-US" sz="2400" dirty="0" smtClean="0"/>
              <a:t> (</a:t>
            </a:r>
            <a:r>
              <a:rPr lang="en-US" sz="2400" dirty="0" err="1" smtClean="0"/>
              <a:t>by_brand</a:t>
            </a:r>
            <a:r>
              <a:rPr lang="en-US" sz="2400" dirty="0" smtClean="0"/>
              <a:t>) -</a:t>
            </a:r>
            <a:r>
              <a:rPr lang="ru-RU" sz="2400" dirty="0" smtClean="0"/>
              <a:t> </a:t>
            </a:r>
            <a:r>
              <a:rPr lang="ru-RU" sz="2400" dirty="0" err="1"/>
              <a:t>трансформація</a:t>
            </a:r>
            <a:r>
              <a:rPr lang="ru-RU" sz="2400" dirty="0"/>
              <a:t> з </a:t>
            </a:r>
            <a:r>
              <a:rPr lang="en-US" sz="2400" dirty="0"/>
              <a:t>long → wide </a:t>
            </a:r>
            <a:r>
              <a:rPr lang="ru-RU" sz="2400" dirty="0"/>
              <a:t>формат, </a:t>
            </a:r>
            <a:r>
              <a:rPr lang="ru-RU" sz="2400" dirty="0" err="1"/>
              <a:t>очищення</a:t>
            </a:r>
            <a:r>
              <a:rPr lang="ru-RU" sz="2400" dirty="0"/>
              <a:t> </a:t>
            </a:r>
            <a:r>
              <a:rPr lang="ru-RU" sz="2400" dirty="0" err="1"/>
              <a:t>від</a:t>
            </a:r>
            <a:r>
              <a:rPr lang="ru-RU" sz="2400" dirty="0"/>
              <a:t> </a:t>
            </a:r>
            <a:r>
              <a:rPr lang="ru-RU" sz="2400" dirty="0" err="1"/>
              <a:t>дублікатів</a:t>
            </a:r>
            <a:r>
              <a:rPr lang="ru-RU" sz="2400" dirty="0"/>
              <a:t>, </a:t>
            </a:r>
            <a:r>
              <a:rPr lang="ru-RU" sz="2400" dirty="0" err="1"/>
              <a:t>додавання</a:t>
            </a:r>
            <a:r>
              <a:rPr lang="ru-RU" sz="2400" dirty="0"/>
              <a:t> року/</a:t>
            </a:r>
            <a:r>
              <a:rPr lang="ru-RU" sz="2400" dirty="0" err="1"/>
              <a:t>місяця</a:t>
            </a:r>
            <a:r>
              <a:rPr lang="ru-RU" sz="2400" dirty="0"/>
              <a:t>/дня.</a:t>
            </a:r>
          </a:p>
          <a:p>
            <a:r>
              <a:rPr lang="ru-RU" sz="2400" dirty="0" err="1"/>
              <a:t>Курси</a:t>
            </a:r>
            <a:r>
              <a:rPr lang="ru-RU" sz="2400" dirty="0"/>
              <a:t> </a:t>
            </a:r>
            <a:r>
              <a:rPr lang="ru-RU" sz="2400" dirty="0" smtClean="0"/>
              <a:t>валют (</a:t>
            </a:r>
            <a:r>
              <a:rPr lang="en-US" sz="2400" dirty="0" err="1" smtClean="0"/>
              <a:t>nbu_rates</a:t>
            </a:r>
            <a:r>
              <a:rPr lang="en-US" sz="2400" dirty="0" smtClean="0"/>
              <a:t>)</a:t>
            </a:r>
            <a:r>
              <a:rPr lang="ru-RU" sz="2400" dirty="0" smtClean="0"/>
              <a:t> </a:t>
            </a:r>
            <a:r>
              <a:rPr lang="en-US" sz="2400" dirty="0" smtClean="0"/>
              <a:t>-</a:t>
            </a:r>
            <a:r>
              <a:rPr lang="ru-RU" sz="2400" dirty="0" smtClean="0"/>
              <a:t> </a:t>
            </a:r>
            <a:r>
              <a:rPr lang="ru-RU" sz="2400" dirty="0" err="1"/>
              <a:t>відбір</a:t>
            </a:r>
            <a:r>
              <a:rPr lang="ru-RU" sz="2400" dirty="0"/>
              <a:t> </a:t>
            </a:r>
            <a:r>
              <a:rPr lang="ru-RU" sz="2400" dirty="0" smtClean="0"/>
              <a:t>валют :</a:t>
            </a:r>
            <a:r>
              <a:rPr lang="en-US" sz="2400" dirty="0" smtClean="0"/>
              <a:t>USD</a:t>
            </a:r>
            <a:r>
              <a:rPr lang="en-US" sz="2400" dirty="0"/>
              <a:t>, EUR, PLN, XAU, XAG, XPT, XPD; </a:t>
            </a:r>
            <a:r>
              <a:rPr lang="ru-RU" sz="2400" dirty="0" err="1"/>
              <a:t>приведення</a:t>
            </a:r>
            <a:r>
              <a:rPr lang="ru-RU" sz="2400" dirty="0"/>
              <a:t> дат, </a:t>
            </a:r>
            <a:r>
              <a:rPr lang="ru-RU" sz="2400" dirty="0" err="1"/>
              <a:t>очищення</a:t>
            </a:r>
            <a:r>
              <a:rPr lang="ru-RU" sz="2400" dirty="0"/>
              <a:t> та </a:t>
            </a:r>
            <a:r>
              <a:rPr lang="ru-RU" sz="2400" dirty="0" err="1"/>
              <a:t>видалення</a:t>
            </a:r>
            <a:r>
              <a:rPr lang="ru-RU" sz="2400" dirty="0"/>
              <a:t> </a:t>
            </a:r>
            <a:r>
              <a:rPr lang="ru-RU" sz="2400" dirty="0" err="1"/>
              <a:t>дублікатів</a:t>
            </a:r>
            <a:r>
              <a:rPr lang="ru-RU" sz="2400" dirty="0" smtClean="0"/>
              <a:t>.</a:t>
            </a:r>
            <a:endParaRPr lang="en-US" sz="2400" dirty="0" smtClean="0"/>
          </a:p>
          <a:p>
            <a:r>
              <a:rPr lang="ru-RU" sz="2400" dirty="0" err="1" smtClean="0"/>
              <a:t>Розміщення</a:t>
            </a:r>
            <a:r>
              <a:rPr lang="ru-RU" sz="2400" dirty="0" smtClean="0"/>
              <a:t> заправок - </a:t>
            </a:r>
            <a:r>
              <a:rPr lang="ru-RU" sz="2400" dirty="0" err="1"/>
              <a:t>приведення</a:t>
            </a:r>
            <a:r>
              <a:rPr lang="ru-RU" sz="2400" dirty="0"/>
              <a:t> </a:t>
            </a:r>
            <a:r>
              <a:rPr lang="ru-RU" sz="2400" dirty="0" err="1"/>
              <a:t>типів</a:t>
            </a:r>
            <a:r>
              <a:rPr lang="ru-RU" sz="2400" dirty="0"/>
              <a:t>, </a:t>
            </a:r>
            <a:r>
              <a:rPr lang="ru-RU" sz="2400" dirty="0" err="1"/>
              <a:t>видалення</a:t>
            </a:r>
            <a:r>
              <a:rPr lang="ru-RU" sz="2400" dirty="0"/>
              <a:t> </a:t>
            </a:r>
            <a:r>
              <a:rPr lang="ru-RU" sz="2400" dirty="0" err="1" smtClean="0"/>
              <a:t>пропусків</a:t>
            </a:r>
            <a:r>
              <a:rPr lang="ru-RU" sz="2400" dirty="0" smtClean="0"/>
              <a:t> </a:t>
            </a:r>
            <a:r>
              <a:rPr lang="ru-RU" sz="2400" dirty="0" err="1" smtClean="0"/>
              <a:t>засобами</a:t>
            </a:r>
            <a:r>
              <a:rPr lang="ru-RU" sz="2400" dirty="0" smtClean="0"/>
              <a:t> </a:t>
            </a:r>
            <a:r>
              <a:rPr lang="en-US" sz="2400" dirty="0" smtClean="0"/>
              <a:t>Data Flow</a:t>
            </a:r>
            <a:r>
              <a:rPr lang="ru-RU" sz="2400" dirty="0"/>
              <a:t>.</a:t>
            </a:r>
            <a:endParaRPr lang="en-US" sz="2400" dirty="0" smtClean="0"/>
          </a:p>
          <a:p>
            <a:r>
              <a:rPr lang="ru-RU" sz="2400" dirty="0" err="1"/>
              <a:t>Логування</a:t>
            </a:r>
            <a:r>
              <a:rPr lang="ru-RU" sz="2400" dirty="0"/>
              <a:t> у </a:t>
            </a:r>
            <a:r>
              <a:rPr lang="en-US" sz="2400" dirty="0"/>
              <a:t>Delta </a:t>
            </a:r>
            <a:r>
              <a:rPr lang="ru-RU" sz="2400" dirty="0" err="1"/>
              <a:t>таблицях</a:t>
            </a:r>
            <a:r>
              <a:rPr lang="ru-RU" sz="2400" dirty="0"/>
              <a:t>.</a:t>
            </a:r>
          </a:p>
          <a:p>
            <a:endParaRPr lang="ru-RU" sz="2000" dirty="0"/>
          </a:p>
          <a:p>
            <a:pPr marL="0" indent="0">
              <a:buNone/>
            </a:pPr>
            <a:endParaRPr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u="sng" dirty="0" smtClean="0"/>
              <a:t>Gold</a:t>
            </a:r>
            <a:r>
              <a:rPr lang="en-US" u="sng" dirty="0" smtClean="0"/>
              <a:t> Layer</a:t>
            </a:r>
            <a:endParaRPr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 smtClean="0"/>
              <a:t>Інкрементальне</a:t>
            </a:r>
            <a:r>
              <a:rPr dirty="0" smtClean="0"/>
              <a:t> </a:t>
            </a:r>
            <a:r>
              <a:rPr dirty="0" err="1"/>
              <a:t>завантаження</a:t>
            </a:r>
            <a:r>
              <a:rPr dirty="0"/>
              <a:t> </a:t>
            </a:r>
            <a:r>
              <a:rPr dirty="0" smtClean="0"/>
              <a:t>у</a:t>
            </a:r>
            <a:r>
              <a:rPr lang="en-US" dirty="0" smtClean="0"/>
              <a:t> Azure</a:t>
            </a:r>
            <a:r>
              <a:rPr dirty="0" smtClean="0"/>
              <a:t> SQL</a:t>
            </a:r>
            <a:r>
              <a:rPr lang="en-US" dirty="0" smtClean="0"/>
              <a:t> Database </a:t>
            </a:r>
            <a:r>
              <a:rPr dirty="0" smtClean="0"/>
              <a:t>.</a:t>
            </a:r>
            <a:endParaRPr dirty="0"/>
          </a:p>
          <a:p>
            <a:r>
              <a:rPr lang="ru-RU" dirty="0" smtClean="0"/>
              <a:t>Об</a:t>
            </a:r>
            <a:r>
              <a:rPr lang="en-US" dirty="0" smtClean="0"/>
              <a:t>’</a:t>
            </a:r>
            <a:r>
              <a:rPr lang="ru-RU" dirty="0" err="1" smtClean="0"/>
              <a:t>єднання</a:t>
            </a:r>
            <a:r>
              <a:rPr lang="ru-RU" dirty="0" smtClean="0"/>
              <a:t> </a:t>
            </a:r>
            <a:r>
              <a:rPr lang="ru-RU" dirty="0" err="1" smtClean="0"/>
              <a:t>даних</a:t>
            </a:r>
            <a:r>
              <a:rPr lang="ru-RU" dirty="0" smtClean="0"/>
              <a:t> </a:t>
            </a:r>
            <a:r>
              <a:rPr lang="en-US" dirty="0" smtClean="0"/>
              <a:t>,</a:t>
            </a:r>
            <a:r>
              <a:rPr lang="ru-RU" dirty="0" smtClean="0"/>
              <a:t>з</a:t>
            </a:r>
            <a:r>
              <a:rPr dirty="0" err="1" smtClean="0"/>
              <a:t>багачення</a:t>
            </a:r>
            <a:r>
              <a:rPr dirty="0" smtClean="0"/>
              <a:t> </a:t>
            </a:r>
            <a:r>
              <a:rPr dirty="0" err="1"/>
              <a:t>даних</a:t>
            </a:r>
            <a:r>
              <a:rPr dirty="0"/>
              <a:t> </a:t>
            </a:r>
            <a:r>
              <a:rPr lang="ru-RU" dirty="0" err="1" smtClean="0"/>
              <a:t>цінами</a:t>
            </a:r>
            <a:r>
              <a:rPr lang="ru-RU" dirty="0" smtClean="0"/>
              <a:t> на </a:t>
            </a:r>
            <a:r>
              <a:rPr lang="ru-RU" dirty="0" err="1" smtClean="0"/>
              <a:t>паливо</a:t>
            </a:r>
            <a:r>
              <a:rPr lang="ru-RU" dirty="0" smtClean="0"/>
              <a:t>  у </a:t>
            </a:r>
            <a:r>
              <a:rPr dirty="0" err="1" smtClean="0"/>
              <a:t>валютам</a:t>
            </a:r>
            <a:r>
              <a:rPr lang="ru-RU" dirty="0" smtClean="0"/>
              <a:t>і</a:t>
            </a:r>
            <a:r>
              <a:rPr dirty="0" smtClean="0"/>
              <a:t> (USD</a:t>
            </a:r>
            <a:r>
              <a:rPr dirty="0"/>
              <a:t>, EUR).</a:t>
            </a:r>
          </a:p>
          <a:p>
            <a:r>
              <a:rPr dirty="0" smtClean="0"/>
              <a:t>Star </a:t>
            </a:r>
            <a:r>
              <a:rPr dirty="0"/>
              <a:t>Schema: </a:t>
            </a:r>
            <a:r>
              <a:rPr dirty="0" err="1"/>
              <a:t>dim_region</a:t>
            </a:r>
            <a:r>
              <a:rPr dirty="0"/>
              <a:t>, </a:t>
            </a:r>
            <a:r>
              <a:rPr dirty="0" err="1"/>
              <a:t>dim_brand</a:t>
            </a:r>
            <a:r>
              <a:rPr dirty="0"/>
              <a:t>, </a:t>
            </a:r>
            <a:r>
              <a:rPr dirty="0" err="1"/>
              <a:t>dim_fuel_type</a:t>
            </a:r>
            <a:r>
              <a:rPr dirty="0"/>
              <a:t>, </a:t>
            </a:r>
            <a:r>
              <a:rPr dirty="0" err="1"/>
              <a:t>fact_fuel_price</a:t>
            </a:r>
            <a:r>
              <a:rPr dirty="0"/>
              <a:t>.</a:t>
            </a:r>
          </a:p>
          <a:p>
            <a:r>
              <a:rPr dirty="0" err="1" smtClean="0"/>
              <a:t>Використання</a:t>
            </a:r>
            <a:r>
              <a:rPr dirty="0" smtClean="0"/>
              <a:t> </a:t>
            </a:r>
            <a:r>
              <a:rPr dirty="0"/>
              <a:t>surrogate keys.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Azure Data Factory </a:t>
            </a:r>
            <a:endParaRPr lang="en-US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" y="1352058"/>
            <a:ext cx="9017878" cy="4607307"/>
          </a:xfrm>
        </p:spPr>
      </p:pic>
    </p:spTree>
    <p:extLst>
      <p:ext uri="{BB962C8B-B14F-4D97-AF65-F5344CB8AC3E}">
        <p14:creationId xmlns:p14="http://schemas.microsoft.com/office/powerpoint/2010/main" val="30813209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Azure Data Factory </a:t>
            </a:r>
            <a:br>
              <a:rPr lang="en-US" dirty="0" smtClean="0"/>
            </a:br>
            <a:r>
              <a:rPr lang="en-US" dirty="0" smtClean="0"/>
              <a:t>If Conditional</a:t>
            </a:r>
            <a:endParaRPr lang="en-US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717" y="1781504"/>
            <a:ext cx="8923283" cy="4319752"/>
          </a:xfrm>
        </p:spPr>
      </p:pic>
    </p:spTree>
    <p:extLst>
      <p:ext uri="{BB962C8B-B14F-4D97-AF65-F5344CB8AC3E}">
        <p14:creationId xmlns:p14="http://schemas.microsoft.com/office/powerpoint/2010/main" val="21162406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Azure Data Factory</a:t>
            </a:r>
            <a:br>
              <a:rPr lang="en-US" dirty="0" smtClean="0"/>
            </a:br>
            <a:r>
              <a:rPr lang="en-US" dirty="0" smtClean="0"/>
              <a:t>Data Flow</a:t>
            </a:r>
            <a:endParaRPr lang="en-US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417638"/>
            <a:ext cx="9033640" cy="5030459"/>
          </a:xfrm>
        </p:spPr>
      </p:pic>
    </p:spTree>
    <p:extLst>
      <p:ext uri="{BB962C8B-B14F-4D97-AF65-F5344CB8AC3E}">
        <p14:creationId xmlns:p14="http://schemas.microsoft.com/office/powerpoint/2010/main" val="33533188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u="sng" dirty="0" err="1"/>
              <a:t>Ключові</a:t>
            </a:r>
            <a:r>
              <a:rPr u="sng" dirty="0"/>
              <a:t> </a:t>
            </a:r>
            <a:r>
              <a:rPr u="sng" dirty="0" err="1"/>
              <a:t>компоненти</a:t>
            </a:r>
            <a:endParaRPr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smtClean="0"/>
              <a:t>Azure </a:t>
            </a:r>
            <a:r>
              <a:rPr dirty="0"/>
              <a:t>Data Factory </a:t>
            </a:r>
            <a:r>
              <a:rPr lang="ru-RU" dirty="0" smtClean="0"/>
              <a:t>-</a:t>
            </a:r>
            <a:r>
              <a:rPr dirty="0" smtClean="0"/>
              <a:t> </a:t>
            </a:r>
            <a:r>
              <a:rPr dirty="0" err="1"/>
              <a:t>оркестрація</a:t>
            </a:r>
            <a:r>
              <a:rPr dirty="0"/>
              <a:t> </a:t>
            </a:r>
            <a:r>
              <a:rPr dirty="0" err="1"/>
              <a:t>пайплайнів</a:t>
            </a:r>
            <a:r>
              <a:rPr dirty="0"/>
              <a:t>.</a:t>
            </a:r>
          </a:p>
          <a:p>
            <a:r>
              <a:rPr dirty="0" smtClean="0"/>
              <a:t>Azure </a:t>
            </a:r>
            <a:r>
              <a:rPr dirty="0" err="1"/>
              <a:t>Databricks</a:t>
            </a:r>
            <a:r>
              <a:rPr dirty="0"/>
              <a:t> </a:t>
            </a:r>
            <a:r>
              <a:rPr lang="ru-RU" dirty="0" smtClean="0"/>
              <a:t>-</a:t>
            </a:r>
            <a:r>
              <a:rPr dirty="0" smtClean="0"/>
              <a:t> </a:t>
            </a:r>
            <a:r>
              <a:rPr dirty="0"/>
              <a:t>ETL/ELT </a:t>
            </a:r>
            <a:r>
              <a:rPr dirty="0" err="1"/>
              <a:t>трансформації</a:t>
            </a:r>
            <a:r>
              <a:rPr dirty="0"/>
              <a:t>.</a:t>
            </a:r>
          </a:p>
          <a:p>
            <a:r>
              <a:rPr dirty="0" smtClean="0"/>
              <a:t> </a:t>
            </a:r>
            <a:r>
              <a:rPr dirty="0"/>
              <a:t>Azure Data Lake </a:t>
            </a:r>
            <a:r>
              <a:rPr lang="ru-RU" dirty="0" smtClean="0"/>
              <a:t>-</a:t>
            </a:r>
            <a:r>
              <a:rPr dirty="0" smtClean="0"/>
              <a:t> </a:t>
            </a:r>
            <a:r>
              <a:rPr dirty="0" err="1"/>
              <a:t>зберігання</a:t>
            </a:r>
            <a:r>
              <a:rPr dirty="0"/>
              <a:t> Bronze/Silver.</a:t>
            </a:r>
          </a:p>
          <a:p>
            <a:r>
              <a:rPr dirty="0" smtClean="0"/>
              <a:t>Azure </a:t>
            </a:r>
            <a:r>
              <a:rPr dirty="0"/>
              <a:t>SQL Database </a:t>
            </a:r>
            <a:r>
              <a:rPr lang="ru-RU" dirty="0" smtClean="0"/>
              <a:t>-</a:t>
            </a:r>
            <a:r>
              <a:rPr dirty="0" smtClean="0"/>
              <a:t> </a:t>
            </a:r>
            <a:r>
              <a:rPr dirty="0"/>
              <a:t>Gold (Star Schema).</a:t>
            </a:r>
          </a:p>
          <a:p>
            <a:r>
              <a:rPr dirty="0" smtClean="0"/>
              <a:t>Azure </a:t>
            </a:r>
            <a:r>
              <a:rPr dirty="0"/>
              <a:t>Key Vault </a:t>
            </a:r>
            <a:r>
              <a:rPr lang="ru-RU" dirty="0" smtClean="0"/>
              <a:t>- </a:t>
            </a:r>
            <a:r>
              <a:rPr dirty="0" err="1" smtClean="0"/>
              <a:t>секрети</a:t>
            </a:r>
            <a:r>
              <a:rPr lang="ru-RU" dirty="0" smtClean="0"/>
              <a:t>,</a:t>
            </a:r>
            <a:r>
              <a:rPr lang="ru-RU" dirty="0" err="1" smtClean="0"/>
              <a:t>ключі</a:t>
            </a:r>
            <a:r>
              <a:rPr lang="ru-RU" dirty="0" smtClean="0"/>
              <a:t> </a:t>
            </a:r>
            <a:r>
              <a:rPr dirty="0" smtClean="0"/>
              <a:t>.</a:t>
            </a:r>
            <a:endParaRPr dirty="0"/>
          </a:p>
          <a:p>
            <a:r>
              <a:rPr dirty="0" smtClean="0"/>
              <a:t>Power </a:t>
            </a:r>
            <a:r>
              <a:rPr dirty="0"/>
              <a:t>BI </a:t>
            </a:r>
            <a:r>
              <a:rPr lang="ru-RU" dirty="0" smtClean="0"/>
              <a:t>-</a:t>
            </a:r>
            <a:r>
              <a:rPr dirty="0" smtClean="0"/>
              <a:t> </a:t>
            </a:r>
            <a:r>
              <a:rPr dirty="0" err="1"/>
              <a:t>аналітика</a:t>
            </a:r>
            <a:r>
              <a:rPr dirty="0"/>
              <a:t> </a:t>
            </a:r>
            <a:r>
              <a:rPr dirty="0" err="1"/>
              <a:t>та</a:t>
            </a:r>
            <a:r>
              <a:rPr dirty="0"/>
              <a:t> </a:t>
            </a:r>
            <a:r>
              <a:rPr dirty="0" err="1"/>
              <a:t>візуалізація</a:t>
            </a:r>
            <a:r>
              <a:rPr dirty="0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u="sng" dirty="0" err="1"/>
              <a:t>Логування</a:t>
            </a:r>
            <a:r>
              <a:rPr u="sng" dirty="0"/>
              <a:t> </a:t>
            </a:r>
            <a:r>
              <a:rPr u="sng" dirty="0" err="1"/>
              <a:t>та</a:t>
            </a:r>
            <a:r>
              <a:rPr u="sng" dirty="0"/>
              <a:t> </a:t>
            </a:r>
            <a:r>
              <a:rPr u="sng" dirty="0" err="1"/>
              <a:t>моніторинг</a:t>
            </a:r>
            <a:endParaRPr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 smtClean="0"/>
              <a:t>Кожен</a:t>
            </a:r>
            <a:r>
              <a:rPr dirty="0" smtClean="0"/>
              <a:t> </a:t>
            </a:r>
            <a:r>
              <a:rPr dirty="0" err="1"/>
              <a:t>етап</a:t>
            </a:r>
            <a:r>
              <a:rPr dirty="0"/>
              <a:t> </a:t>
            </a:r>
            <a:r>
              <a:rPr dirty="0" err="1"/>
              <a:t>трансформацій</a:t>
            </a:r>
            <a:r>
              <a:rPr dirty="0"/>
              <a:t> </a:t>
            </a:r>
            <a:r>
              <a:rPr dirty="0" err="1"/>
              <a:t>логуються</a:t>
            </a:r>
            <a:r>
              <a:rPr dirty="0"/>
              <a:t> у Delta Lake.</a:t>
            </a:r>
          </a:p>
          <a:p>
            <a:r>
              <a:rPr dirty="0" err="1" smtClean="0"/>
              <a:t>Логи</a:t>
            </a:r>
            <a:r>
              <a:rPr dirty="0" smtClean="0"/>
              <a:t> </a:t>
            </a:r>
            <a:r>
              <a:rPr dirty="0" err="1"/>
              <a:t>включають</a:t>
            </a:r>
            <a:r>
              <a:rPr dirty="0"/>
              <a:t>: </a:t>
            </a:r>
            <a:r>
              <a:rPr dirty="0" err="1"/>
              <a:t>статус</a:t>
            </a:r>
            <a:r>
              <a:rPr dirty="0"/>
              <a:t> (</a:t>
            </a:r>
            <a:r>
              <a:rPr dirty="0" err="1"/>
              <a:t>успіх</a:t>
            </a:r>
            <a:r>
              <a:rPr dirty="0"/>
              <a:t>/</a:t>
            </a:r>
            <a:r>
              <a:rPr dirty="0" err="1"/>
              <a:t>помилка</a:t>
            </a:r>
            <a:r>
              <a:rPr dirty="0"/>
              <a:t>/</a:t>
            </a:r>
            <a:r>
              <a:rPr dirty="0" err="1"/>
              <a:t>пропуск</a:t>
            </a:r>
            <a:r>
              <a:rPr dirty="0"/>
              <a:t>), </a:t>
            </a:r>
            <a:r>
              <a:rPr dirty="0" err="1"/>
              <a:t>кількість</a:t>
            </a:r>
            <a:r>
              <a:rPr dirty="0"/>
              <a:t> </a:t>
            </a:r>
            <a:r>
              <a:rPr dirty="0" err="1"/>
              <a:t>рядків</a:t>
            </a:r>
            <a:r>
              <a:rPr dirty="0"/>
              <a:t>, </a:t>
            </a:r>
            <a:r>
              <a:rPr dirty="0" err="1"/>
              <a:t>джерело</a:t>
            </a:r>
            <a:r>
              <a:rPr dirty="0"/>
              <a:t> </a:t>
            </a:r>
            <a:r>
              <a:rPr dirty="0" err="1"/>
              <a:t>даних</a:t>
            </a:r>
            <a:r>
              <a:rPr dirty="0"/>
              <a:t>.</a:t>
            </a:r>
          </a:p>
          <a:p>
            <a:r>
              <a:rPr dirty="0" err="1" smtClean="0"/>
              <a:t>Дозволяє</a:t>
            </a:r>
            <a:r>
              <a:rPr dirty="0" smtClean="0"/>
              <a:t> </a:t>
            </a:r>
            <a:r>
              <a:rPr dirty="0" err="1"/>
              <a:t>контролювати</a:t>
            </a:r>
            <a:r>
              <a:rPr dirty="0"/>
              <a:t> </a:t>
            </a:r>
            <a:r>
              <a:rPr dirty="0" err="1"/>
              <a:t>якість</a:t>
            </a:r>
            <a:r>
              <a:rPr dirty="0"/>
              <a:t> </a:t>
            </a:r>
            <a:r>
              <a:rPr dirty="0" err="1"/>
              <a:t>даних</a:t>
            </a:r>
            <a:r>
              <a:rPr dirty="0"/>
              <a:t> </a:t>
            </a:r>
            <a:r>
              <a:rPr dirty="0" err="1"/>
              <a:t>та</a:t>
            </a:r>
            <a:r>
              <a:rPr dirty="0"/>
              <a:t> </a:t>
            </a:r>
            <a:r>
              <a:rPr dirty="0" err="1"/>
              <a:t>інкрементальні</a:t>
            </a:r>
            <a:r>
              <a:rPr dirty="0"/>
              <a:t> </a:t>
            </a:r>
            <a:r>
              <a:rPr dirty="0" err="1"/>
              <a:t>завантаження</a:t>
            </a:r>
            <a:r>
              <a:rPr dirty="0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u="sng" dirty="0" err="1"/>
              <a:t>Технології</a:t>
            </a:r>
            <a:endParaRPr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 smtClean="0"/>
              <a:t>PySpark</a:t>
            </a:r>
            <a:r>
              <a:rPr dirty="0"/>
              <a:t>, SQL</a:t>
            </a:r>
          </a:p>
          <a:p>
            <a:r>
              <a:rPr dirty="0" smtClean="0"/>
              <a:t>Azure </a:t>
            </a:r>
            <a:r>
              <a:rPr dirty="0"/>
              <a:t>Data Factory, </a:t>
            </a:r>
            <a:r>
              <a:rPr dirty="0" err="1"/>
              <a:t>Databricks</a:t>
            </a:r>
            <a:r>
              <a:rPr dirty="0"/>
              <a:t>, Data Lake, SQL Database, Key Vault</a:t>
            </a:r>
          </a:p>
          <a:p>
            <a:r>
              <a:rPr dirty="0" smtClean="0"/>
              <a:t>Parquet</a:t>
            </a:r>
            <a:r>
              <a:rPr dirty="0"/>
              <a:t>, Delta</a:t>
            </a:r>
          </a:p>
          <a:p>
            <a:r>
              <a:rPr dirty="0" smtClean="0"/>
              <a:t>Power </a:t>
            </a:r>
            <a:r>
              <a:rPr dirty="0"/>
              <a:t>BI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u="sng" dirty="0" err="1"/>
              <a:t>Результат</a:t>
            </a:r>
            <a:endParaRPr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 smtClean="0"/>
              <a:t>Централізоване</a:t>
            </a:r>
            <a:r>
              <a:rPr dirty="0" smtClean="0"/>
              <a:t> </a:t>
            </a:r>
            <a:r>
              <a:rPr dirty="0" err="1"/>
              <a:t>зберігання</a:t>
            </a:r>
            <a:r>
              <a:rPr dirty="0"/>
              <a:t> </a:t>
            </a:r>
            <a:r>
              <a:rPr dirty="0" err="1"/>
              <a:t>історії</a:t>
            </a:r>
            <a:r>
              <a:rPr dirty="0"/>
              <a:t> </a:t>
            </a:r>
            <a:r>
              <a:rPr dirty="0" err="1"/>
              <a:t>змін</a:t>
            </a:r>
            <a:r>
              <a:rPr dirty="0"/>
              <a:t> </a:t>
            </a:r>
            <a:r>
              <a:rPr dirty="0" err="1"/>
              <a:t>цін</a:t>
            </a:r>
            <a:r>
              <a:rPr dirty="0"/>
              <a:t> </a:t>
            </a:r>
            <a:r>
              <a:rPr dirty="0" err="1"/>
              <a:t>та</a:t>
            </a:r>
            <a:r>
              <a:rPr dirty="0"/>
              <a:t> </a:t>
            </a:r>
            <a:r>
              <a:rPr dirty="0" err="1"/>
              <a:t>курсів</a:t>
            </a:r>
            <a:r>
              <a:rPr dirty="0"/>
              <a:t> </a:t>
            </a:r>
            <a:r>
              <a:rPr dirty="0" err="1"/>
              <a:t>валют</a:t>
            </a:r>
            <a:r>
              <a:rPr dirty="0"/>
              <a:t>.</a:t>
            </a:r>
          </a:p>
          <a:p>
            <a:r>
              <a:rPr dirty="0" err="1" smtClean="0"/>
              <a:t>Автоматизація</a:t>
            </a:r>
            <a:r>
              <a:rPr dirty="0" smtClean="0"/>
              <a:t> </a:t>
            </a:r>
            <a:r>
              <a:rPr dirty="0"/>
              <a:t>ETL </a:t>
            </a:r>
            <a:r>
              <a:rPr dirty="0" err="1"/>
              <a:t>процесів</a:t>
            </a:r>
            <a:r>
              <a:rPr dirty="0"/>
              <a:t>.</a:t>
            </a:r>
          </a:p>
          <a:p>
            <a:r>
              <a:rPr dirty="0" err="1" smtClean="0"/>
              <a:t>Побудова</a:t>
            </a:r>
            <a:r>
              <a:rPr dirty="0" smtClean="0"/>
              <a:t> </a:t>
            </a:r>
            <a:r>
              <a:rPr dirty="0" err="1"/>
              <a:t>аналітичної</a:t>
            </a:r>
            <a:r>
              <a:rPr dirty="0"/>
              <a:t> Star Schema.</a:t>
            </a:r>
          </a:p>
          <a:p>
            <a:r>
              <a:rPr dirty="0" err="1" smtClean="0"/>
              <a:t>Масштабованість</a:t>
            </a:r>
            <a:r>
              <a:rPr dirty="0" smtClean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нових</a:t>
            </a:r>
            <a:r>
              <a:rPr dirty="0"/>
              <a:t> </a:t>
            </a:r>
            <a:r>
              <a:rPr dirty="0" err="1"/>
              <a:t>джерел</a:t>
            </a:r>
            <a:r>
              <a:rPr dirty="0"/>
              <a:t> </a:t>
            </a:r>
            <a:r>
              <a:rPr dirty="0" err="1"/>
              <a:t>даних</a:t>
            </a:r>
            <a:r>
              <a:rPr dirty="0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 smtClean="0"/>
              <a:t>Power BI</a:t>
            </a:r>
            <a:br>
              <a:rPr lang="en-US" sz="3600" dirty="0" smtClean="0"/>
            </a:br>
            <a:r>
              <a:rPr lang="en-US" sz="3600" dirty="0" smtClean="0"/>
              <a:t>fuel stations location</a:t>
            </a:r>
            <a:endParaRPr lang="en-US" sz="3600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92772"/>
            <a:ext cx="9002110" cy="4855780"/>
          </a:xfrm>
        </p:spPr>
      </p:pic>
    </p:spTree>
    <p:extLst>
      <p:ext uri="{BB962C8B-B14F-4D97-AF65-F5344CB8AC3E}">
        <p14:creationId xmlns:p14="http://schemas.microsoft.com/office/powerpoint/2010/main" val="33280070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70838"/>
          </a:xfrm>
        </p:spPr>
        <p:txBody>
          <a:bodyPr>
            <a:noAutofit/>
          </a:bodyPr>
          <a:lstStyle/>
          <a:p>
            <a:r>
              <a:rPr lang="en-US" sz="3600" dirty="0" smtClean="0"/>
              <a:t>Power BI</a:t>
            </a:r>
            <a:br>
              <a:rPr lang="en-US" sz="3600" dirty="0" smtClean="0"/>
            </a:br>
            <a:r>
              <a:rPr lang="en-US" sz="3600" dirty="0" smtClean="0"/>
              <a:t>daily prices by brand</a:t>
            </a:r>
            <a:endParaRPr lang="en-US" sz="3600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952" y="1245476"/>
            <a:ext cx="8797158" cy="5470634"/>
          </a:xfrm>
        </p:spPr>
      </p:pic>
    </p:spTree>
    <p:extLst>
      <p:ext uri="{BB962C8B-B14F-4D97-AF65-F5344CB8AC3E}">
        <p14:creationId xmlns:p14="http://schemas.microsoft.com/office/powerpoint/2010/main" val="4002136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26124"/>
            <a:ext cx="8229600" cy="1150883"/>
          </a:xfrm>
        </p:spPr>
        <p:txBody>
          <a:bodyPr>
            <a:noAutofit/>
          </a:bodyPr>
          <a:lstStyle/>
          <a:p>
            <a:r>
              <a:rPr lang="en-US" sz="3600" dirty="0" smtClean="0"/>
              <a:t>Power BI</a:t>
            </a:r>
            <a:br>
              <a:rPr lang="en-US" sz="3600" dirty="0" smtClean="0"/>
            </a:br>
            <a:r>
              <a:rPr lang="en-US" sz="3600" dirty="0" smtClean="0"/>
              <a:t>rate dynamics</a:t>
            </a:r>
            <a:endParaRPr lang="en-US" sz="3600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422" y="1277007"/>
            <a:ext cx="8970578" cy="5297213"/>
          </a:xfrm>
        </p:spPr>
      </p:pic>
    </p:spTree>
    <p:extLst>
      <p:ext uri="{BB962C8B-B14F-4D97-AF65-F5344CB8AC3E}">
        <p14:creationId xmlns:p14="http://schemas.microsoft.com/office/powerpoint/2010/main" val="10679817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</TotalTime>
  <Words>378</Words>
  <Application>Microsoft Office PowerPoint</Application>
  <PresentationFormat>Экран (4:3)</PresentationFormat>
  <Paragraphs>61</Paragraphs>
  <Slides>17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17</vt:i4>
      </vt:variant>
    </vt:vector>
  </HeadingPairs>
  <TitlesOfParts>
    <vt:vector size="18" baseType="lpstr">
      <vt:lpstr>Office Theme</vt:lpstr>
      <vt:lpstr>Fuel Prices Data Engineering Project</vt:lpstr>
      <vt:lpstr>Опис проєкту</vt:lpstr>
      <vt:lpstr>Архітектура проєкту </vt:lpstr>
      <vt:lpstr>Архітектура трансформацій</vt:lpstr>
      <vt:lpstr>Bronze Layer</vt:lpstr>
      <vt:lpstr>Silver Layer</vt:lpstr>
      <vt:lpstr>Gold Layer</vt:lpstr>
      <vt:lpstr>Azure Data Factory </vt:lpstr>
      <vt:lpstr>Azure Data Factory  If Conditional</vt:lpstr>
      <vt:lpstr>Azure Data Factory Data Flow</vt:lpstr>
      <vt:lpstr>Ключові компоненти</vt:lpstr>
      <vt:lpstr>Логування та моніторинг</vt:lpstr>
      <vt:lpstr>Технології</vt:lpstr>
      <vt:lpstr>Результат</vt:lpstr>
      <vt:lpstr>Power BI fuel stations location</vt:lpstr>
      <vt:lpstr>Power BI daily prices by brand</vt:lpstr>
      <vt:lpstr>Power BI rate dynamics</vt:lpstr>
    </vt:vector>
  </TitlesOfParts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Engineering проєкт</dc:title>
  <dc:creator>User</dc:creator>
  <dc:description>generated using python-pptx</dc:description>
  <cp:lastModifiedBy>User</cp:lastModifiedBy>
  <cp:revision>14</cp:revision>
  <dcterms:created xsi:type="dcterms:W3CDTF">2013-01-27T09:14:16Z</dcterms:created>
  <dcterms:modified xsi:type="dcterms:W3CDTF">2025-08-26T07:45:20Z</dcterms:modified>
</cp:coreProperties>
</file>